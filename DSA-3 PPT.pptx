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0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1222" y="1000665"/>
            <a:ext cx="9144000" cy="1498424"/>
          </a:xfrm>
        </p:spPr>
        <p:txBody>
          <a:bodyPr/>
          <a:lstStyle/>
          <a:p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/>
              <a:t>Intelligent Spell Checker Using </a:t>
            </a:r>
            <a:r>
              <a:rPr lang="en-US" sz="2800" b="1" dirty="0" err="1"/>
              <a:t>Levenshtein</a:t>
            </a:r>
            <a:r>
              <a:rPr lang="en-US" sz="2800" b="1" dirty="0"/>
              <a:t> Edit Distance</a:t>
            </a:r>
            <a:endParaRPr lang="en-US" sz="2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358" y="2906826"/>
            <a:ext cx="4551284" cy="1396014"/>
          </a:xfrm>
        </p:spPr>
        <p:txBody>
          <a:bodyPr/>
          <a:lstStyle/>
          <a:p>
            <a:r>
              <a:rPr lang="en-US" sz="1600" dirty="0">
                <a:solidFill>
                  <a:srgbClr val="0070C0"/>
                </a:solidFill>
              </a:rPr>
              <a:t>Team Members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Yeshvitha – 2520030194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6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Bhavyanshi</a:t>
            </a:r>
            <a:r>
              <a:rPr lang="en-US" sz="16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 – 2520030038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Spandana - 2520030160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DSA-3 faculty name with designation and department 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sz="1600" dirty="0">
              <a:solidFill>
                <a:srgbClr val="0070C0"/>
              </a:solidFill>
            </a:endParaRPr>
          </a:p>
          <a:p>
            <a:endParaRPr lang="en-US" sz="1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2734574" y="1315406"/>
            <a:ext cx="8559023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20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07FAD-0F83-1928-8D48-8CE1999566AC}"/>
              </a:ext>
            </a:extLst>
          </p:cNvPr>
          <p:cNvSpPr txBox="1"/>
          <p:nvPr/>
        </p:nvSpPr>
        <p:spPr>
          <a:xfrm>
            <a:off x="1854678" y="1794294"/>
            <a:ext cx="93165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Inter"/>
              </a:rPr>
              <a:t>Core Objective:</a:t>
            </a:r>
            <a:r>
              <a:rPr lang="en-US" dirty="0">
                <a:solidFill>
                  <a:srgbClr val="1E293B"/>
                </a:solidFill>
                <a:latin typeface="Inter"/>
              </a:rPr>
              <a:t> Develop an intelligent spell checker that detects misspelled words and generates ranked correction suggestions using </a:t>
            </a:r>
            <a:r>
              <a:rPr lang="en-US" dirty="0" err="1">
                <a:solidFill>
                  <a:srgbClr val="1E293B"/>
                </a:solidFill>
                <a:latin typeface="Inter"/>
              </a:rPr>
              <a:t>Levenshtein</a:t>
            </a:r>
            <a:r>
              <a:rPr lang="en-US" dirty="0">
                <a:solidFill>
                  <a:srgbClr val="1E293B"/>
                </a:solidFill>
                <a:latin typeface="Inter"/>
              </a:rPr>
              <a:t> Edit Distance.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Inte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Inter"/>
              </a:rPr>
              <a:t>Operation Set:</a:t>
            </a:r>
            <a:r>
              <a:rPr lang="en-US" dirty="0">
                <a:solidFill>
                  <a:srgbClr val="1E293B"/>
                </a:solidFill>
                <a:latin typeface="Inter"/>
              </a:rPr>
              <a:t> Computes the minimum number of character-level operations—Insertion, Deletion, and Substitution—required to transform input strings.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Inte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Inter"/>
              </a:rPr>
              <a:t>Ranking Mechanism:</a:t>
            </a:r>
            <a:r>
              <a:rPr lang="en-US" dirty="0">
                <a:solidFill>
                  <a:srgbClr val="1E293B"/>
                </a:solidFill>
                <a:latin typeface="Inter"/>
              </a:rPr>
              <a:t> Ranks candidate words dynamically; dictionary terms with lower edit distances receive top suggestion priority.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Inte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E293B"/>
                </a:solidFill>
                <a:latin typeface="Inter"/>
              </a:rPr>
              <a:t>Practical Utility:</a:t>
            </a:r>
            <a:r>
              <a:rPr lang="en-US" dirty="0">
                <a:solidFill>
                  <a:srgbClr val="1E293B"/>
                </a:solidFill>
                <a:latin typeface="Inter"/>
              </a:rPr>
              <a:t> Highly efficient and lightweight solution adaptable for search engines, text editors, and Natural Language Processing (NLP)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Inte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Inter"/>
            </a:endParaRPr>
          </a:p>
          <a:p>
            <a:pPr algn="just"/>
            <a:endParaRPr lang="en-US" dirty="0">
              <a:solidFill>
                <a:srgbClr val="1E293B"/>
              </a:solidFill>
              <a:latin typeface="Inter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0BE19-BA2D-412A-8E4F-B970C7B6CF06}"/>
              </a:ext>
            </a:extLst>
          </p:cNvPr>
          <p:cNvSpPr txBox="1"/>
          <p:nvPr/>
        </p:nvSpPr>
        <p:spPr>
          <a:xfrm>
            <a:off x="6409425" y="1155939"/>
            <a:ext cx="56536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Background:</a:t>
            </a:r>
            <a:r>
              <a:rPr lang="en-IN" dirty="0"/>
              <a:t> Real-time text processing tools require accurate spelling detection and automated candidate suggestions.</a:t>
            </a:r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Core Concept:</a:t>
            </a:r>
            <a:r>
              <a:rPr lang="en-IN" dirty="0"/>
              <a:t> </a:t>
            </a:r>
            <a:r>
              <a:rPr lang="en-IN" dirty="0" err="1"/>
              <a:t>Levenshtein</a:t>
            </a:r>
            <a:r>
              <a:rPr lang="en-IN" dirty="0"/>
              <a:t> Edit Distance quantifies how different two string sequences are by measuring the minimum edits needed to transform one into another. </a:t>
            </a:r>
          </a:p>
          <a:p>
            <a:pPr lvl="0" algn="just"/>
            <a:endParaRPr lang="en-IN" dirty="0"/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Application Scope:</a:t>
            </a:r>
            <a:r>
              <a:rPr lang="en-IN" dirty="0"/>
              <a:t> Essential component in Natural Language Processing (NLP), autocomplete systems, and search query refinement. </a:t>
            </a:r>
          </a:p>
          <a:p>
            <a:pPr algn="just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23B1C9-A0E9-14D8-CBA8-3453A8BD6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3" y="1024182"/>
            <a:ext cx="6280543" cy="4809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1880A-F95D-A15A-1063-9BBE316FCB85}"/>
                  </a:ext>
                </a:extLst>
              </p:cNvPr>
              <p:cNvSpPr txBox="1"/>
              <p:nvPr/>
            </p:nvSpPr>
            <p:spPr>
              <a:xfrm>
                <a:off x="2027207" y="1751163"/>
                <a:ext cx="878169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N" b="1" dirty="0"/>
                  <a:t>Traditional Approaches:</a:t>
                </a:r>
                <a:r>
                  <a:rPr lang="en-IN" dirty="0"/>
                  <a:t> Basic dictionary lookup tables (Hash Tables) only check word existence but fail to provide intelligent correction suggestions for misspellings.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N" b="1" dirty="0"/>
                  <a:t>Exact String Matching:</a:t>
                </a:r>
                <a:r>
                  <a:rPr lang="en-IN" dirty="0"/>
                  <a:t> Direct string comparison algorithms have high complexity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IN" dirty="0"/>
                  <a:t>) when scaling to large dictionaries without dynamic programming optimization.</a:t>
                </a:r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lvl="0" indent="-285750" algn="just">
                  <a:buFont typeface="Arial" panose="020B0604020202020204" pitchFamily="34" charset="0"/>
                  <a:buChar char="•"/>
                </a:pPr>
                <a:r>
                  <a:rPr lang="en-IN" b="1" dirty="0"/>
                  <a:t>Dynamic Programming Solution:</a:t>
                </a:r>
                <a:r>
                  <a:rPr lang="en-IN" dirty="0"/>
                  <a:t> Storing subproblem solutions in a matrix reduces computational overhead, making </a:t>
                </a:r>
                <a:r>
                  <a:rPr lang="en-IN" dirty="0" err="1"/>
                  <a:t>Levenshtein</a:t>
                </a:r>
                <a:r>
                  <a:rPr lang="en-IN" dirty="0"/>
                  <a:t> Distance a standard benchmark for string similarity ranking. </a:t>
                </a:r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31880A-F95D-A15A-1063-9BBE316FC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207" y="1751163"/>
                <a:ext cx="8781690" cy="3693319"/>
              </a:xfrm>
              <a:prstGeom prst="rect">
                <a:avLst/>
              </a:prstGeom>
              <a:blipFill>
                <a:blip r:embed="rId2"/>
                <a:stretch>
                  <a:fillRect l="-486" t="-825" r="-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C07C2-C999-7C15-17A6-F56E3141A730}"/>
              </a:ext>
            </a:extLst>
          </p:cNvPr>
          <p:cNvSpPr txBox="1"/>
          <p:nvPr/>
        </p:nvSpPr>
        <p:spPr>
          <a:xfrm>
            <a:off x="1976094" y="1801099"/>
            <a:ext cx="94884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Problem Statement:</a:t>
            </a:r>
            <a:r>
              <a:rPr lang="en-IN" dirty="0"/>
              <a:t> Text input systems frequently encounter typographical   errors, necessitating an efficient mechanism to accurately identify errors and suggest appropriate corrections in real time.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lvl="0" algn="just"/>
            <a:endParaRPr lang="en-IN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   Objectives:</a:t>
            </a:r>
            <a:endParaRPr lang="en-IN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Implement the </a:t>
            </a:r>
            <a:r>
              <a:rPr lang="en-IN" dirty="0" err="1"/>
              <a:t>Levenshtein</a:t>
            </a:r>
            <a:r>
              <a:rPr lang="en-IN" dirty="0"/>
              <a:t> Edit Distance algorithm using dynamic programming.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Map input terms against a predefined dictionary to calculate minimum transformation operations.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Rank candidate replacement words based on edit distance thresholds.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/>
              <a:t>Provide a scalable foundation for text processing and NLP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ACAACB-A4FA-33A7-1538-45FFC24E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49" y="806448"/>
            <a:ext cx="10480731" cy="5898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AC586-1C96-6639-EF69-6FB48ABFB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22" y="1339742"/>
            <a:ext cx="7906156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A64BC-4BFB-47DC-EBD1-1867C7B0AF45}"/>
              </a:ext>
            </a:extLst>
          </p:cNvPr>
          <p:cNvSpPr txBox="1"/>
          <p:nvPr/>
        </p:nvSpPr>
        <p:spPr>
          <a:xfrm>
            <a:off x="1364410" y="1846053"/>
            <a:ext cx="94631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High Precision : </a:t>
            </a:r>
            <a:r>
              <a:rPr lang="en-IN" dirty="0" err="1"/>
              <a:t>Levenshtein</a:t>
            </a:r>
            <a:r>
              <a:rPr lang="en-IN" dirty="0"/>
              <a:t> Edit Distance accurately identifies character insertions, deletions, and substitutions to recommend correct spelling options.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Algorithmic Efficiency : </a:t>
            </a:r>
            <a:r>
              <a:rPr lang="en-IN" dirty="0"/>
              <a:t>Dynamic Programming reduces duplicate sub-problem computations, converting exponential brute-force string alignment to efficient time limits.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Versatile Integration : </a:t>
            </a:r>
            <a:r>
              <a:rPr lang="en-IN" dirty="0"/>
              <a:t>Serves as a robust component suitable for text editors, auto-correct keyboards, search query normalization, and NLP ingestion engines.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35DAC8-FC87-A518-9083-4CEB81C46CEC}"/>
              </a:ext>
            </a:extLst>
          </p:cNvPr>
          <p:cNvSpPr txBox="1"/>
          <p:nvPr/>
        </p:nvSpPr>
        <p:spPr>
          <a:xfrm>
            <a:off x="1385976" y="1759789"/>
            <a:ext cx="94200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Context-Aware Correction:</a:t>
            </a:r>
            <a:r>
              <a:rPr lang="en-IN" dirty="0"/>
              <a:t> Integrate N-Gram language models or Transformer LLMs to resolve contextual misspellings (e.g., "I went to the </a:t>
            </a:r>
            <a:r>
              <a:rPr lang="en-IN" i="1" dirty="0"/>
              <a:t>sea</a:t>
            </a:r>
            <a:r>
              <a:rPr lang="en-IN" dirty="0"/>
              <a:t>/</a:t>
            </a:r>
            <a:r>
              <a:rPr lang="en-IN" i="1" dirty="0"/>
              <a:t>see</a:t>
            </a:r>
            <a:r>
              <a:rPr lang="en-IN" dirty="0"/>
              <a:t>").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Keyboard Spatial Distance:</a:t>
            </a:r>
            <a:r>
              <a:rPr lang="en-IN" dirty="0"/>
              <a:t> Incorporate QWERTY key proximity weighting into substitution cost functions.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Hybrid Phonetic Distance:</a:t>
            </a:r>
            <a:r>
              <a:rPr lang="en-IN" dirty="0"/>
              <a:t> Combine </a:t>
            </a:r>
            <a:r>
              <a:rPr lang="en-IN" dirty="0" err="1"/>
              <a:t>Levenshtein</a:t>
            </a:r>
            <a:r>
              <a:rPr lang="en-IN" dirty="0"/>
              <a:t> distance with Double Metaphone or Soundex algorithms to catch phonetic </a:t>
            </a:r>
            <a:r>
              <a:rPr lang="en-IN" dirty="0" err="1"/>
              <a:t>phonetic</a:t>
            </a:r>
            <a:r>
              <a:rPr lang="en-IN" dirty="0"/>
              <a:t> errors.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Multilingual Expansion:</a:t>
            </a:r>
            <a:r>
              <a:rPr lang="en-IN" dirty="0"/>
              <a:t> Support multi-language dictionaries and UTF-8 script processing for global language spell-checking.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528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Inter</vt:lpstr>
      <vt:lpstr>Times New Roman</vt:lpstr>
      <vt:lpstr>Office Theme</vt:lpstr>
      <vt:lpstr>       Data Structures and Algorithms -3 (25CS2103E)  Intelligent Spell Checker Using Levenshtein Edit Distance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Yeshvitha Thota</cp:lastModifiedBy>
  <cp:revision>22</cp:revision>
  <dcterms:created xsi:type="dcterms:W3CDTF">2024-08-29T05:25:00Z</dcterms:created>
  <dcterms:modified xsi:type="dcterms:W3CDTF">2026-09-28T17:21:18Z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