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64" r:id="rId4"/>
    <p:sldId id="258" r:id="rId5"/>
    <p:sldId id="261" r:id="rId6"/>
    <p:sldId id="265" r:id="rId7"/>
    <p:sldId id="259" r:id="rId8"/>
    <p:sldId id="267" r:id="rId9"/>
    <p:sldId id="260" r:id="rId10"/>
    <p:sldId id="262" r:id="rId11"/>
    <p:sldId id="26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4" d="100"/>
          <a:sy n="74" d="100"/>
        </p:scale>
        <p:origin x="37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11" descr="KL University Hyderabad"/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4450"/>
            <a:ext cx="2101850" cy="900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7"/>
          <p:cNvSpPr/>
          <p:nvPr userDrawn="1"/>
        </p:nvSpPr>
        <p:spPr>
          <a:xfrm>
            <a:off x="0" y="6811963"/>
            <a:ext cx="12192000" cy="46037"/>
          </a:xfrm>
          <a:prstGeom prst="rect">
            <a:avLst/>
          </a:prstGeom>
          <a:solidFill>
            <a:srgbClr val="BA25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0" y="0"/>
            <a:ext cx="12192000" cy="46038"/>
          </a:xfrm>
          <a:prstGeom prst="rect">
            <a:avLst/>
          </a:prstGeom>
          <a:solidFill>
            <a:srgbClr val="BA25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pic>
        <p:nvPicPr>
          <p:cNvPr id="10" name="Picture 6" descr="Background pattern&#10;&#10;Description automatically generated"/>
          <p:cNvPicPr>
            <a:picLocks noChangeAspect="1" noChangeArrowheads="1"/>
          </p:cNvPicPr>
          <p:nvPr userDrawn="1"/>
        </p:nvPicPr>
        <p:blipFill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003550" cy="300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41222" y="1000665"/>
            <a:ext cx="9144000" cy="1498424"/>
          </a:xfrm>
        </p:spPr>
        <p:txBody>
          <a:bodyPr/>
          <a:lstStyle/>
          <a:p>
            <a:br>
              <a:rPr lang="en-US" sz="2800" b="1" dirty="0">
                <a:solidFill>
                  <a:srgbClr val="C00000"/>
                </a:solidFill>
                <a:latin typeface="+mn-lt"/>
              </a:rPr>
            </a:br>
            <a:br>
              <a:rPr lang="en-US" sz="2800" b="1" dirty="0">
                <a:solidFill>
                  <a:srgbClr val="C00000"/>
                </a:solidFill>
                <a:latin typeface="+mn-lt"/>
              </a:rPr>
            </a:br>
            <a:br>
              <a:rPr lang="en-US" sz="2800" b="1" dirty="0">
                <a:solidFill>
                  <a:srgbClr val="C00000"/>
                </a:solidFill>
                <a:latin typeface="+mn-lt"/>
              </a:rPr>
            </a:br>
            <a:br>
              <a:rPr lang="en-US" sz="2800" b="1" dirty="0">
                <a:solidFill>
                  <a:srgbClr val="C00000"/>
                </a:solidFill>
                <a:latin typeface="+mn-lt"/>
              </a:rPr>
            </a:br>
            <a:br>
              <a:rPr lang="en-US" sz="2800" b="1" dirty="0">
                <a:solidFill>
                  <a:srgbClr val="C00000"/>
                </a:solidFill>
                <a:latin typeface="+mn-lt"/>
              </a:rPr>
            </a:br>
            <a:br>
              <a:rPr lang="en-US" sz="2800" b="1" dirty="0">
                <a:solidFill>
                  <a:srgbClr val="C00000"/>
                </a:solidFill>
                <a:latin typeface="+mn-lt"/>
              </a:rPr>
            </a:br>
            <a:br>
              <a:rPr lang="en-US" sz="2800" b="1" dirty="0">
                <a:solidFill>
                  <a:srgbClr val="C00000"/>
                </a:solidFill>
                <a:latin typeface="+mn-lt"/>
              </a:rPr>
            </a:br>
            <a:r>
              <a:rPr lang="en-US" sz="2800" b="1" dirty="0">
                <a:solidFill>
                  <a:srgbClr val="C00000"/>
                </a:solidFill>
                <a:latin typeface="+mn-lt"/>
              </a:rPr>
              <a:t>Data Structures and Algorithms -3 (25CS2103E)</a:t>
            </a:r>
            <a:br>
              <a:rPr lang="en-US" sz="2800" b="1" dirty="0">
                <a:solidFill>
                  <a:srgbClr val="C00000"/>
                </a:solidFill>
                <a:latin typeface="+mn-lt"/>
              </a:rPr>
            </a:br>
            <a:br>
              <a:rPr lang="en-US" sz="2800" b="1" dirty="0">
                <a:solidFill>
                  <a:srgbClr val="C00000"/>
                </a:solidFill>
                <a:latin typeface="+mn-lt"/>
              </a:rPr>
            </a:br>
            <a:r>
              <a:rPr lang="en-US" sz="2800" b="1" dirty="0"/>
              <a:t>Intelligent Spell Checker Using </a:t>
            </a:r>
            <a:r>
              <a:rPr lang="en-US" sz="2800" b="1" dirty="0" err="1"/>
              <a:t>Levenshtein</a:t>
            </a:r>
            <a:r>
              <a:rPr lang="en-US" sz="2800" b="1" dirty="0"/>
              <a:t> Edit Distance</a:t>
            </a:r>
            <a:endParaRPr lang="en-US" sz="2800" b="1" dirty="0">
              <a:solidFill>
                <a:srgbClr val="C00000"/>
              </a:solidFill>
              <a:latin typeface="+mn-l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20358" y="2906826"/>
            <a:ext cx="4551284" cy="1396014"/>
          </a:xfrm>
        </p:spPr>
        <p:txBody>
          <a:bodyPr/>
          <a:lstStyle/>
          <a:p>
            <a:r>
              <a:rPr lang="en-US" sz="1600" dirty="0">
                <a:solidFill>
                  <a:srgbClr val="0070C0"/>
                </a:solidFill>
              </a:rPr>
              <a:t>Team Members</a:t>
            </a:r>
          </a:p>
          <a:p>
            <a:pPr marL="171450" algn="ctr">
              <a:lnSpc>
                <a:spcPct val="107000"/>
              </a:lnSpc>
              <a:spcAft>
                <a:spcPts val="800"/>
              </a:spcAft>
            </a:pPr>
            <a:r>
              <a:rPr lang="en-US" sz="1600" kern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Gautami" panose="020B0502040204020203" pitchFamily="34" charset="0"/>
              </a:rPr>
              <a:t>Yeshvitha – 2520030194</a:t>
            </a:r>
          </a:p>
          <a:p>
            <a:pPr marL="171450" algn="ctr">
              <a:lnSpc>
                <a:spcPct val="107000"/>
              </a:lnSpc>
              <a:spcAft>
                <a:spcPts val="800"/>
              </a:spcAft>
            </a:pPr>
            <a:r>
              <a:rPr lang="en-US" sz="1600" kern="0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Gautami" panose="020B0502040204020203" pitchFamily="34" charset="0"/>
              </a:rPr>
              <a:t>Bhavyanshi</a:t>
            </a:r>
            <a:r>
              <a:rPr lang="en-US" sz="1600" kern="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Gautami" panose="020B0502040204020203" pitchFamily="34" charset="0"/>
              </a:rPr>
              <a:t> – 2520030038</a:t>
            </a:r>
          </a:p>
          <a:p>
            <a:pPr marL="171450" algn="ctr">
              <a:lnSpc>
                <a:spcPct val="107000"/>
              </a:lnSpc>
              <a:spcAft>
                <a:spcPts val="800"/>
              </a:spcAft>
            </a:pPr>
            <a:r>
              <a:rPr lang="en-US" sz="1600" kern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Gautami" panose="020B0502040204020203" pitchFamily="34" charset="0"/>
              </a:rPr>
              <a:t>Spandana - 2520030160</a:t>
            </a:r>
          </a:p>
          <a:p>
            <a:pPr marL="171450" algn="ctr">
              <a:lnSpc>
                <a:spcPct val="107000"/>
              </a:lnSpc>
              <a:spcAft>
                <a:spcPts val="800"/>
              </a:spcAft>
            </a:pPr>
            <a:r>
              <a:rPr lang="en-US" sz="1600" kern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Gautami" panose="020B0502040204020203" pitchFamily="34" charset="0"/>
              </a:rPr>
              <a:t>Under the Esteemed Guidance of</a:t>
            </a:r>
            <a:endParaRPr lang="en-IN" sz="16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Gautami" panose="020B0502040204020203" pitchFamily="34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US" sz="1600" b="1" kern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Gautami" panose="020B0502040204020203" pitchFamily="34" charset="0"/>
              </a:rPr>
              <a:t>Name of the DSA-3 faculty name with designation and department  </a:t>
            </a:r>
            <a:endParaRPr lang="en-IN" sz="16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Gautami" panose="020B0502040204020203" pitchFamily="34" charset="0"/>
            </a:endParaRPr>
          </a:p>
          <a:p>
            <a:endParaRPr lang="en-US" sz="1600" dirty="0">
              <a:solidFill>
                <a:srgbClr val="0070C0"/>
              </a:solidFill>
            </a:endParaRPr>
          </a:p>
          <a:p>
            <a:endParaRPr lang="en-US" sz="1600" b="1" dirty="0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C70C049-38C4-198F-3181-AACE07DE24AE}"/>
              </a:ext>
            </a:extLst>
          </p:cNvPr>
          <p:cNvSpPr txBox="1"/>
          <p:nvPr/>
        </p:nvSpPr>
        <p:spPr>
          <a:xfrm>
            <a:off x="2734574" y="1315406"/>
            <a:ext cx="8559023" cy="4047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l" rtl="0" eaLnBrk="1" fontAlgn="t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Abstract</a:t>
            </a:r>
          </a:p>
          <a:p>
            <a:pPr marL="457200" indent="-457200" algn="l" rtl="0" eaLnBrk="1" fontAlgn="t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Introduction</a:t>
            </a:r>
            <a:endParaRPr lang="en-IN" sz="2000" b="0" i="0" u="none" strike="noStrike" dirty="0">
              <a:effectLst/>
              <a:latin typeface="Arial" panose="020B0604020202020204" pitchFamily="34" charset="0"/>
            </a:endParaRPr>
          </a:p>
          <a:p>
            <a:pPr marL="457200" indent="-457200" algn="l" rtl="0" eaLnBrk="1" fontAlgn="t" latinLnBrk="0" hangingPunct="1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Gautami" panose="020B0502040204020203" pitchFamily="34" charset="0"/>
              </a:rPr>
              <a:t>Literature survey</a:t>
            </a:r>
            <a:endParaRPr lang="en-IN" sz="2000" b="0" i="0" u="none" strike="noStrike" dirty="0">
              <a:effectLst/>
              <a:latin typeface="Arial" panose="020B0604020202020204" pitchFamily="34" charset="0"/>
            </a:endParaRPr>
          </a:p>
          <a:p>
            <a:pPr marL="457200" indent="-457200" algn="l" rtl="0" eaLnBrk="1" fontAlgn="t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Gautami" panose="020B0502040204020203" pitchFamily="34" charset="0"/>
              </a:rPr>
              <a:t>Problem Statement and Objectives</a:t>
            </a:r>
            <a:endParaRPr lang="en-IN" sz="2000" b="0" i="0" u="none" strike="noStrike" dirty="0">
              <a:effectLst/>
              <a:latin typeface="Arial" panose="020B0604020202020204" pitchFamily="34" charset="0"/>
            </a:endParaRPr>
          </a:p>
          <a:p>
            <a:pPr marL="457200" indent="-457200" algn="l" rtl="0" eaLnBrk="1" fontAlgn="t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Gautami" panose="020B0502040204020203" pitchFamily="34" charset="0"/>
              </a:rPr>
              <a:t>Hardware and Software requirements</a:t>
            </a:r>
            <a:endParaRPr lang="en-IN" sz="2000" b="0" i="0" u="none" strike="noStrike" dirty="0">
              <a:effectLst/>
              <a:latin typeface="Arial" panose="020B0604020202020204" pitchFamily="34" charset="0"/>
            </a:endParaRPr>
          </a:p>
          <a:p>
            <a:pPr marL="457200" indent="-457200" algn="l" rtl="0" eaLnBrk="1" fontAlgn="t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Gautami" panose="020B0502040204020203" pitchFamily="34" charset="0"/>
              </a:rPr>
              <a:t>Results</a:t>
            </a:r>
            <a:endParaRPr lang="en-IN" sz="2000" b="0" i="0" u="none" strike="noStrike" dirty="0">
              <a:effectLst/>
              <a:latin typeface="Arial" panose="020B0604020202020204" pitchFamily="34" charset="0"/>
            </a:endParaRPr>
          </a:p>
          <a:p>
            <a:pPr marL="457200" indent="-457200" algn="l" rtl="0" eaLnBrk="1" fontAlgn="t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Gautami" panose="020B0502040204020203" pitchFamily="34" charset="0"/>
              </a:rPr>
              <a:t>Conclusion </a:t>
            </a:r>
          </a:p>
          <a:p>
            <a:pPr marL="457200" indent="-457200" algn="l" rtl="0" eaLnBrk="1" fontAlgn="t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Gautami" panose="020B0502040204020203" pitchFamily="34" charset="0"/>
              </a:rPr>
              <a:t>Future Scope </a:t>
            </a:r>
            <a:endParaRPr lang="en-IN" sz="2000" b="0" i="0" u="none" strike="noStrike" dirty="0">
              <a:effectLst/>
              <a:latin typeface="Arial" panose="020B0604020202020204" pitchFamily="34" charset="0"/>
            </a:endParaRPr>
          </a:p>
          <a:p>
            <a:endParaRPr lang="en-IN" sz="20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AC2F32-24D5-FDE9-EB0F-31C7733C95E6}"/>
              </a:ext>
            </a:extLst>
          </p:cNvPr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A499C0-FC38-6642-1E16-B8CFFC9C9314}"/>
              </a:ext>
            </a:extLst>
          </p:cNvPr>
          <p:cNvSpPr txBox="1"/>
          <p:nvPr/>
        </p:nvSpPr>
        <p:spPr>
          <a:xfrm>
            <a:off x="2660072" y="221673"/>
            <a:ext cx="6871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Contents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2660072" y="221673"/>
            <a:ext cx="6871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Abstract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707FAD-0F83-1928-8D48-8CE1999566AC}"/>
              </a:ext>
            </a:extLst>
          </p:cNvPr>
          <p:cNvSpPr txBox="1"/>
          <p:nvPr/>
        </p:nvSpPr>
        <p:spPr>
          <a:xfrm>
            <a:off x="1854678" y="1794294"/>
            <a:ext cx="9316529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E293B"/>
                </a:solidFill>
                <a:latin typeface="Inter"/>
              </a:rPr>
              <a:t>Core Objective:</a:t>
            </a:r>
            <a:r>
              <a:rPr lang="en-US" dirty="0">
                <a:solidFill>
                  <a:srgbClr val="1E293B"/>
                </a:solidFill>
                <a:latin typeface="Inter"/>
              </a:rPr>
              <a:t> Develop an intelligent spell checker that detects misspelled words and generates ranked correction suggestions using </a:t>
            </a:r>
            <a:r>
              <a:rPr lang="en-US" dirty="0" err="1">
                <a:solidFill>
                  <a:srgbClr val="1E293B"/>
                </a:solidFill>
                <a:latin typeface="Inter"/>
              </a:rPr>
              <a:t>Levenshtein</a:t>
            </a:r>
            <a:r>
              <a:rPr lang="en-US" dirty="0">
                <a:solidFill>
                  <a:srgbClr val="1E293B"/>
                </a:solidFill>
                <a:latin typeface="Inter"/>
              </a:rPr>
              <a:t> Edit Distance.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dirty="0">
              <a:solidFill>
                <a:srgbClr val="1E293B"/>
              </a:solidFill>
              <a:latin typeface="Inter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E293B"/>
                </a:solidFill>
                <a:latin typeface="Inter"/>
              </a:rPr>
              <a:t>Operation Set:</a:t>
            </a:r>
            <a:r>
              <a:rPr lang="en-US" dirty="0">
                <a:solidFill>
                  <a:srgbClr val="1E293B"/>
                </a:solidFill>
                <a:latin typeface="Inter"/>
              </a:rPr>
              <a:t> Computes the minimum number of character-level operations—Insertion, Deletion, and Substitution—required to transform input strings.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dirty="0">
              <a:solidFill>
                <a:srgbClr val="1E293B"/>
              </a:solidFill>
              <a:latin typeface="Inter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E293B"/>
                </a:solidFill>
                <a:latin typeface="Inter"/>
              </a:rPr>
              <a:t>Ranking Mechanism:</a:t>
            </a:r>
            <a:r>
              <a:rPr lang="en-US" dirty="0">
                <a:solidFill>
                  <a:srgbClr val="1E293B"/>
                </a:solidFill>
                <a:latin typeface="Inter"/>
              </a:rPr>
              <a:t> Ranks candidate words dynamically; dictionary terms with lower edit distances receive top suggestion priority.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dirty="0">
              <a:solidFill>
                <a:srgbClr val="1E293B"/>
              </a:solidFill>
              <a:latin typeface="Inter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E293B"/>
                </a:solidFill>
                <a:latin typeface="Inter"/>
              </a:rPr>
              <a:t>Practical Utility:</a:t>
            </a:r>
            <a:r>
              <a:rPr lang="en-US" dirty="0">
                <a:solidFill>
                  <a:srgbClr val="1E293B"/>
                </a:solidFill>
                <a:latin typeface="Inter"/>
              </a:rPr>
              <a:t> Highly efficient and lightweight solution adaptable for search engines, text editors, and Natural Language Processing (NLP) systems.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dirty="0">
              <a:solidFill>
                <a:srgbClr val="1E293B"/>
              </a:solidFill>
              <a:latin typeface="Inter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dirty="0">
              <a:solidFill>
                <a:srgbClr val="1E293B"/>
              </a:solidFill>
              <a:latin typeface="Inter"/>
            </a:endParaRPr>
          </a:p>
          <a:p>
            <a:pPr algn="just"/>
            <a:endParaRPr lang="en-US" dirty="0">
              <a:solidFill>
                <a:srgbClr val="1E293B"/>
              </a:solidFill>
              <a:latin typeface="Inter"/>
            </a:endParaRPr>
          </a:p>
          <a:p>
            <a:pPr algn="just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24225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660072" y="193965"/>
            <a:ext cx="6871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Introduction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20BE19-BA2D-412A-8E4F-B970C7B6CF06}"/>
              </a:ext>
            </a:extLst>
          </p:cNvPr>
          <p:cNvSpPr txBox="1"/>
          <p:nvPr/>
        </p:nvSpPr>
        <p:spPr>
          <a:xfrm>
            <a:off x="1955319" y="1940943"/>
            <a:ext cx="828135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IN" b="1" dirty="0"/>
              <a:t>Background:</a:t>
            </a:r>
            <a:r>
              <a:rPr lang="en-IN" dirty="0"/>
              <a:t> Real-time text processing tools require accurate spelling detection and automated candidate suggestions.</a:t>
            </a:r>
          </a:p>
          <a:p>
            <a:pPr lvl="0" algn="just"/>
            <a:endParaRPr lang="en-IN" dirty="0"/>
          </a:p>
          <a:p>
            <a:pPr lvl="0" algn="just"/>
            <a:endParaRPr lang="en-IN" dirty="0"/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IN" b="1" dirty="0"/>
              <a:t>Core Concept:</a:t>
            </a:r>
            <a:r>
              <a:rPr lang="en-IN" dirty="0"/>
              <a:t> </a:t>
            </a:r>
            <a:r>
              <a:rPr lang="en-IN" dirty="0" err="1"/>
              <a:t>Levenshtein</a:t>
            </a:r>
            <a:r>
              <a:rPr lang="en-IN" dirty="0"/>
              <a:t> Edit Distance quantifies how different two string sequences are by measuring the minimum edits needed to transform one into another. </a:t>
            </a:r>
          </a:p>
          <a:p>
            <a:pPr lvl="0" algn="just"/>
            <a:endParaRPr lang="en-IN" dirty="0"/>
          </a:p>
          <a:p>
            <a:pPr lvl="0" algn="just"/>
            <a:endParaRPr lang="en-IN" dirty="0"/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IN" b="1" dirty="0"/>
              <a:t>Application Scope:</a:t>
            </a:r>
            <a:r>
              <a:rPr lang="en-IN" dirty="0"/>
              <a:t> Essential component in Natural Language Processing (NLP), autocomplete systems, and search query refinement. </a:t>
            </a:r>
          </a:p>
          <a:p>
            <a:pPr algn="just"/>
            <a:endParaRPr lang="en-IN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660072" y="193965"/>
            <a:ext cx="6871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Literature Survey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31880A-F95D-A15A-1063-9BBE316FCB85}"/>
                  </a:ext>
                </a:extLst>
              </p:cNvPr>
              <p:cNvSpPr txBox="1"/>
              <p:nvPr/>
            </p:nvSpPr>
            <p:spPr>
              <a:xfrm>
                <a:off x="2027207" y="1751163"/>
                <a:ext cx="8781690" cy="36933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lvl="0" indent="-285750" algn="just">
                  <a:buFont typeface="Arial" panose="020B0604020202020204" pitchFamily="34" charset="0"/>
                  <a:buChar char="•"/>
                </a:pPr>
                <a:r>
                  <a:rPr lang="en-IN" b="1" dirty="0"/>
                  <a:t>Traditional Approaches:</a:t>
                </a:r>
                <a:r>
                  <a:rPr lang="en-IN" dirty="0"/>
                  <a:t> Basic dictionary lookup tables (Hash Tables) only check word existence but fail to provide intelligent correction suggestions for misspellings.</a:t>
                </a:r>
              </a:p>
              <a:p>
                <a:pPr marL="285750" lvl="0" indent="-285750" algn="just">
                  <a:buFont typeface="Arial" panose="020B0604020202020204" pitchFamily="34" charset="0"/>
                  <a:buChar char="•"/>
                </a:pPr>
                <a:endParaRPr lang="en-IN" dirty="0"/>
              </a:p>
              <a:p>
                <a:pPr marL="285750" lvl="0" indent="-285750" algn="just">
                  <a:buFont typeface="Arial" panose="020B0604020202020204" pitchFamily="34" charset="0"/>
                  <a:buChar char="•"/>
                </a:pPr>
                <a:endParaRPr lang="en-IN" dirty="0"/>
              </a:p>
              <a:p>
                <a:pPr marL="285750" lvl="0" indent="-285750" algn="just">
                  <a:buFont typeface="Arial" panose="020B0604020202020204" pitchFamily="34" charset="0"/>
                  <a:buChar char="•"/>
                </a:pPr>
                <a:r>
                  <a:rPr lang="en-IN" b="1" dirty="0"/>
                  <a:t>Exact String Matching:</a:t>
                </a:r>
                <a:r>
                  <a:rPr lang="en-IN" dirty="0"/>
                  <a:t> Direct string comparison algorithms have high complexity (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IN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IN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</m:oMath>
                </a14:m>
                <a:r>
                  <a:rPr lang="en-IN" dirty="0"/>
                  <a:t>) when scaling to large dictionaries without dynamic programming optimization.</a:t>
                </a:r>
              </a:p>
              <a:p>
                <a:pPr marL="285750" lvl="0" indent="-285750" algn="just">
                  <a:buFont typeface="Arial" panose="020B0604020202020204" pitchFamily="34" charset="0"/>
                  <a:buChar char="•"/>
                </a:pPr>
                <a:endParaRPr lang="en-IN" dirty="0"/>
              </a:p>
              <a:p>
                <a:pPr marL="285750" lvl="0" indent="-285750" algn="just">
                  <a:buFont typeface="Arial" panose="020B0604020202020204" pitchFamily="34" charset="0"/>
                  <a:buChar char="•"/>
                </a:pPr>
                <a:endParaRPr lang="en-IN" dirty="0"/>
              </a:p>
              <a:p>
                <a:pPr marL="285750" lvl="0" indent="-285750" algn="just">
                  <a:buFont typeface="Arial" panose="020B0604020202020204" pitchFamily="34" charset="0"/>
                  <a:buChar char="•"/>
                </a:pPr>
                <a:r>
                  <a:rPr lang="en-IN" b="1" dirty="0"/>
                  <a:t>Dynamic Programming Solution:</a:t>
                </a:r>
                <a:r>
                  <a:rPr lang="en-IN" dirty="0"/>
                  <a:t> Storing subproblem solutions in a matrix reduces computational overhead, making </a:t>
                </a:r>
                <a:r>
                  <a:rPr lang="en-IN" dirty="0" err="1"/>
                  <a:t>Levenshtein</a:t>
                </a:r>
                <a:r>
                  <a:rPr lang="en-IN" dirty="0"/>
                  <a:t> Distance a standard benchmark for string similarity ranking. </a:t>
                </a:r>
              </a:p>
              <a:p>
                <a:pPr algn="just"/>
                <a:endParaRPr lang="en-IN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31880A-F95D-A15A-1063-9BBE316FCB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7207" y="1751163"/>
                <a:ext cx="8781690" cy="3693319"/>
              </a:xfrm>
              <a:prstGeom prst="rect">
                <a:avLst/>
              </a:prstGeom>
              <a:blipFill>
                <a:blip r:embed="rId2"/>
                <a:stretch>
                  <a:fillRect l="-486" t="-825" r="-55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/>
          <p:cNvSpPr/>
          <p:nvPr/>
        </p:nvSpPr>
        <p:spPr>
          <a:xfrm>
            <a:off x="2660072" y="221673"/>
            <a:ext cx="6723625" cy="65579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2660072" y="292694"/>
            <a:ext cx="6871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Problem Statement and Objectives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BC07C2-C999-7C15-17A6-F56E3141A730}"/>
              </a:ext>
            </a:extLst>
          </p:cNvPr>
          <p:cNvSpPr txBox="1"/>
          <p:nvPr/>
        </p:nvSpPr>
        <p:spPr>
          <a:xfrm>
            <a:off x="1976094" y="1801099"/>
            <a:ext cx="948841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IN" b="1" dirty="0"/>
              <a:t>Problem Statement:</a:t>
            </a:r>
            <a:r>
              <a:rPr lang="en-IN" dirty="0"/>
              <a:t> Text input systems frequently encounter typographical   errors, necessitating an efficient mechanism to accurately identify errors and suggest appropriate corrections in real time. </a:t>
            </a: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endParaRPr lang="en-IN" dirty="0"/>
          </a:p>
          <a:p>
            <a:pPr lvl="0" algn="just"/>
            <a:endParaRPr lang="en-IN" dirty="0"/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IN" b="1" dirty="0"/>
              <a:t>   Objectives: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Implement the </a:t>
            </a:r>
            <a:r>
              <a:rPr lang="en-IN" dirty="0" err="1"/>
              <a:t>Levenshtein</a:t>
            </a:r>
            <a:r>
              <a:rPr lang="en-IN" dirty="0"/>
              <a:t> Edit Distance algorithm using dynamic programming. 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Map input terms against a predefined dictionary to calculate minimum transformation operations. 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Rank candidate replacement words based on edit distance thresholds. 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Provide a scalable foundation for text processing and NLP applications. </a:t>
            </a:r>
          </a:p>
        </p:txBody>
      </p:sp>
    </p:spTree>
    <p:extLst>
      <p:ext uri="{BB962C8B-B14F-4D97-AF65-F5344CB8AC3E}">
        <p14:creationId xmlns:p14="http://schemas.microsoft.com/office/powerpoint/2010/main" val="34410266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660072" y="193965"/>
            <a:ext cx="6871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Flow Chart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57CCF19-8F6F-4FFB-658A-0CC3CB6467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2660" y="1293963"/>
            <a:ext cx="8986679" cy="460650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660072" y="193965"/>
            <a:ext cx="6871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kern="0" dirty="0">
                <a:solidFill>
                  <a:schemeClr val="bg1"/>
                </a:solidFill>
                <a:effectLst/>
                <a:ea typeface="Times New Roman" panose="02020603050405020304" pitchFamily="18" charset="0"/>
              </a:rPr>
              <a:t>Results</a:t>
            </a:r>
            <a:endParaRPr lang="en-US" sz="3200" b="1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9D8A9A-4A5E-4AD1-CDA3-1506F3ED3A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8200" y="916708"/>
            <a:ext cx="8579428" cy="5719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922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660072" y="187903"/>
            <a:ext cx="6871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Conclusion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4A64BC-4BFB-47DC-EBD1-1867C7B0AF45}"/>
              </a:ext>
            </a:extLst>
          </p:cNvPr>
          <p:cNvSpPr txBox="1"/>
          <p:nvPr/>
        </p:nvSpPr>
        <p:spPr>
          <a:xfrm>
            <a:off x="1364410" y="1846053"/>
            <a:ext cx="946317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b="1" dirty="0"/>
              <a:t>High Precision : </a:t>
            </a:r>
            <a:r>
              <a:rPr lang="en-IN" dirty="0" err="1"/>
              <a:t>Levenshtein</a:t>
            </a:r>
            <a:r>
              <a:rPr lang="en-IN" dirty="0"/>
              <a:t> Edit Distance accurately identifies character insertions, deletions, and substitutions to recommend correct spelling options.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dirty="0"/>
              <a:t> </a:t>
            </a:r>
            <a:r>
              <a:rPr lang="en-IN" b="1" dirty="0"/>
              <a:t>Algorithmic Efficiency : </a:t>
            </a:r>
            <a:r>
              <a:rPr lang="en-IN" dirty="0"/>
              <a:t>Dynamic Programming reduces duplicate sub-problem computations, converting exponential brute-force string alignment to efficient time limits.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dirty="0"/>
              <a:t> </a:t>
            </a:r>
            <a:r>
              <a:rPr lang="en-IN" b="1" dirty="0"/>
              <a:t>Versatile Integration : </a:t>
            </a:r>
            <a:r>
              <a:rPr lang="en-IN" dirty="0"/>
              <a:t>Serves as a robust component suitable for text editors, auto-correct keyboards, search query normalization, and NLP ingestion engines.</a:t>
            </a:r>
          </a:p>
          <a:p>
            <a:pPr algn="just"/>
            <a:endParaRPr lang="en-IN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2660072" y="154134"/>
            <a:ext cx="6871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 Future Scope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35DAC8-FC87-A518-9083-4CEB81C46CEC}"/>
              </a:ext>
            </a:extLst>
          </p:cNvPr>
          <p:cNvSpPr txBox="1"/>
          <p:nvPr/>
        </p:nvSpPr>
        <p:spPr>
          <a:xfrm>
            <a:off x="1385976" y="1759789"/>
            <a:ext cx="942004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b="1" dirty="0"/>
              <a:t>Context-Aware Correction:</a:t>
            </a:r>
            <a:r>
              <a:rPr lang="en-IN" dirty="0"/>
              <a:t> Integrate N-Gram language models or Transformer LLMs to resolve contextual misspellings (e.g., "I went to the </a:t>
            </a:r>
            <a:r>
              <a:rPr lang="en-IN" i="1" dirty="0"/>
              <a:t>sea</a:t>
            </a:r>
            <a:r>
              <a:rPr lang="en-IN" dirty="0"/>
              <a:t>/</a:t>
            </a:r>
            <a:r>
              <a:rPr lang="en-IN" i="1" dirty="0"/>
              <a:t>see</a:t>
            </a:r>
            <a:r>
              <a:rPr lang="en-IN" dirty="0"/>
              <a:t>").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b="1" dirty="0"/>
              <a:t>Keyboard Spatial Distance:</a:t>
            </a:r>
            <a:r>
              <a:rPr lang="en-IN" dirty="0"/>
              <a:t> Incorporate QWERTY key proximity weighting into substitution cost functions.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b="1" dirty="0"/>
              <a:t>Hybrid Phonetic Distance:</a:t>
            </a:r>
            <a:r>
              <a:rPr lang="en-IN" dirty="0"/>
              <a:t> Combine </a:t>
            </a:r>
            <a:r>
              <a:rPr lang="en-IN" dirty="0" err="1"/>
              <a:t>Levenshtein</a:t>
            </a:r>
            <a:r>
              <a:rPr lang="en-IN" dirty="0"/>
              <a:t> distance with Double Metaphone or Soundex algorithms to catch phonetic </a:t>
            </a:r>
            <a:r>
              <a:rPr lang="en-IN" dirty="0" err="1"/>
              <a:t>phonetic</a:t>
            </a:r>
            <a:r>
              <a:rPr lang="en-IN" dirty="0"/>
              <a:t> errors.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b="1" dirty="0"/>
              <a:t>Multilingual Expansion:</a:t>
            </a:r>
            <a:r>
              <a:rPr lang="en-IN" dirty="0"/>
              <a:t> Support multi-language dictionaries and UTF-8 script processing for global language spell-checking.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/>
          <p:cNvSpPr/>
          <p:nvPr/>
        </p:nvSpPr>
        <p:spPr>
          <a:xfrm>
            <a:off x="3736107" y="2619376"/>
            <a:ext cx="4946253" cy="135782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3135434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376</TotalTime>
  <Words>528</Words>
  <Application>Microsoft Office PowerPoint</Application>
  <PresentationFormat>Widescreen</PresentationFormat>
  <Paragraphs>69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Cambria Math</vt:lpstr>
      <vt:lpstr>Inter</vt:lpstr>
      <vt:lpstr>Times New Roman</vt:lpstr>
      <vt:lpstr>Office Theme</vt:lpstr>
      <vt:lpstr>       Data Structures and Algorithms -3 (25CS2103E)  Intelligent Spell Checker Using Levenshtein Edit Distance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Sirisha Devi</dc:creator>
  <cp:lastModifiedBy>Yeshvitha Thota</cp:lastModifiedBy>
  <cp:revision>21</cp:revision>
  <dcterms:created xsi:type="dcterms:W3CDTF">2024-08-29T05:25:00Z</dcterms:created>
  <dcterms:modified xsi:type="dcterms:W3CDTF">2026-09-28T09:40:47Z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FB2A1F042FC047C6B4D7E0BF0C20B2E9_13</vt:lpwstr>
  </property>
  <property fmtid="{D5CDD505-2E9C-101B-9397-08002B2CF9AE}" pid="3" name="KSOProductBuildVer">
    <vt:lpwstr>1033-12.2.0.23131</vt:lpwstr>
  </property>
</Properties>
</file>